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56" r:id="rId3"/>
    <p:sldId id="263" r:id="rId4"/>
    <p:sldId id="264" r:id="rId5"/>
    <p:sldId id="268" r:id="rId6"/>
    <p:sldId id="265" r:id="rId7"/>
    <p:sldId id="279" r:id="rId8"/>
    <p:sldId id="261" r:id="rId9"/>
    <p:sldId id="285" r:id="rId10"/>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p:scale>
          <a:sx n="66" d="100"/>
          <a:sy n="66" d="100"/>
        </p:scale>
        <p:origin x="222" y="-6"/>
      </p:cViewPr>
      <p:guideLst>
        <p:guide orient="horz" pos="2213"/>
        <p:guide pos="3840"/>
      </p:guideLst>
    </p:cSldViewPr>
  </p:slideViewPr>
  <p:notesTextViewPr>
    <p:cViewPr>
      <p:scale>
        <a:sx n="1" d="1"/>
        <a:sy n="1" d="1"/>
      </p:scale>
      <p:origin x="0" y="0"/>
    </p:cViewPr>
  </p:notesTextViewPr>
  <p:sorterViewPr showFormatting="0">
    <p:cViewPr>
      <p:scale>
        <a:sx n="100" d="100"/>
        <a:sy n="100" d="100"/>
      </p:scale>
      <p:origin x="0" y="-1106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p>
            <a:pPr lvl="0"/>
            <a:r>
              <a:rPr lang="zh-CN" altLang="en-US" dirty="0"/>
              <a:t>Click to edit Master text style</a:t>
            </a:r>
            <a:endParaRPr lang="zh-CN" altLang="en-US" dirty="0"/>
          </a:p>
          <a:p>
            <a:pPr lvl="1" indent="0"/>
            <a:r>
              <a:rPr lang="zh-CN" altLang="en-US" dirty="0"/>
              <a:t>Second level</a:t>
            </a:r>
            <a:endParaRPr lang="zh-CN" altLang="en-US" dirty="0"/>
          </a:p>
          <a:p>
            <a:pPr lvl="2" indent="0"/>
            <a:r>
              <a:rPr lang="zh-CN" altLang="en-US" dirty="0"/>
              <a:t>Third level</a:t>
            </a:r>
            <a:endParaRPr lang="zh-CN" altLang="en-US" dirty="0"/>
          </a:p>
          <a:p>
            <a:pPr lvl="3" indent="0"/>
            <a:r>
              <a:rPr lang="zh-CN" altLang="en-US" dirty="0"/>
              <a:t>Fourth level</a:t>
            </a:r>
            <a:endParaRPr lang="zh-CN" altLang="en-US" dirty="0"/>
          </a:p>
          <a:p>
            <a:pPr lvl="4" indent="0"/>
            <a:r>
              <a:rPr lang="zh-CN" altLang="en-US" dirty="0"/>
              <a:t>Fifth level</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auto"/>
            <a:r>
              <a:rPr lang="zh-CN" altLang="en-US" strike="noStrike" noProof="1" smtClean="0"/>
              <a:t>Click to edit Master title style</a:t>
            </a:r>
            <a:endParaRPr lang="zh-CN" altLang="en-US" strike="noStrike" noProof="1" smtClean="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Click to edit Master title style</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BEF05245-1089-431C-9CB9-1C9E798A99A0}"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p>
            <a:pPr lvl="0"/>
            <a:r>
              <a:rPr lang="zh-CN" altLang="en-US" dirty="0"/>
              <a:t>Click to edit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p>
            <a:pPr lvl="0" indent="-228600"/>
            <a:r>
              <a:rPr lang="zh-CN" altLang="en-US" dirty="0"/>
              <a:t>Click to edit Master text style</a:t>
            </a:r>
            <a:endParaRPr lang="zh-CN" altLang="en-US" dirty="0"/>
          </a:p>
          <a:p>
            <a:pPr lvl="1" indent="-228600"/>
            <a:r>
              <a:rPr lang="zh-CN" altLang="en-US" dirty="0"/>
              <a:t>Second level</a:t>
            </a:r>
            <a:endParaRPr lang="zh-CN" altLang="en-US" dirty="0"/>
          </a:p>
          <a:p>
            <a:pPr lvl="2" indent="-228600"/>
            <a:r>
              <a:rPr lang="zh-CN" altLang="en-US" dirty="0"/>
              <a:t>Third level</a:t>
            </a:r>
            <a:endParaRPr lang="zh-CN" altLang="en-US" dirty="0"/>
          </a:p>
          <a:p>
            <a:pPr lvl="3" indent="-228600"/>
            <a:r>
              <a:rPr lang="zh-CN" altLang="en-US" dirty="0"/>
              <a:t>Fourth level</a:t>
            </a:r>
            <a:endParaRPr lang="zh-CN" altLang="en-US" dirty="0"/>
          </a:p>
          <a:p>
            <a:pPr lvl="4" indent="-228600"/>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EF05245-1089-431C-9CB9-1C9E798A99A0}"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Lst>
  <p:transition spd="slow">
    <p:wipe/>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7"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4098" name="组合 4"/>
          <p:cNvGrpSpPr/>
          <p:nvPr/>
        </p:nvGrpSpPr>
        <p:grpSpPr>
          <a:xfrm>
            <a:off x="3141980" y="1779905"/>
            <a:ext cx="8874125" cy="3316605"/>
            <a:chOff x="3457574" y="1641515"/>
            <a:chExt cx="8168230" cy="3051574"/>
          </a:xfrm>
        </p:grpSpPr>
        <p:grpSp>
          <p:nvGrpSpPr>
            <p:cNvPr id="4099" name="组合 5"/>
            <p:cNvGrpSpPr/>
            <p:nvPr/>
          </p:nvGrpSpPr>
          <p:grpSpPr>
            <a:xfrm>
              <a:off x="3590925" y="1980069"/>
              <a:ext cx="5010150" cy="679906"/>
              <a:chOff x="4324350" y="2295525"/>
              <a:chExt cx="3733800" cy="679906"/>
            </a:xfrm>
          </p:grpSpPr>
          <p:cxnSp>
            <p:nvCxnSpPr>
              <p:cNvPr id="15" name="直接连接符 14"/>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4104" name="组合 6"/>
            <p:cNvGrpSpPr/>
            <p:nvPr/>
          </p:nvGrpSpPr>
          <p:grpSpPr>
            <a:xfrm flipH="1" flipV="1">
              <a:off x="3457574" y="3370824"/>
              <a:ext cx="4951785" cy="726031"/>
              <a:chOff x="4324350" y="2295525"/>
              <a:chExt cx="3733800" cy="679906"/>
            </a:xfrm>
          </p:grpSpPr>
          <p:cxnSp>
            <p:nvCxnSpPr>
              <p:cNvPr id="11" name="直接连接符 10"/>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110" name="文本框 8"/>
            <p:cNvSpPr txBox="1"/>
            <p:nvPr/>
          </p:nvSpPr>
          <p:spPr>
            <a:xfrm>
              <a:off x="6601539" y="4269503"/>
              <a:ext cx="5024265" cy="423586"/>
            </a:xfrm>
            <a:prstGeom prst="rect">
              <a:avLst/>
            </a:prstGeom>
            <a:noFill/>
            <a:ln w="9525">
              <a:noFill/>
            </a:ln>
          </p:spPr>
          <p:txBody>
            <a:bodyPr wrap="square" anchor="t">
              <a:spAutoFit/>
            </a:bodyPr>
            <a:p>
              <a:pPr algn="l" defTabSz="914400"/>
              <a:endParaRPr lang="en-IN" altLang="en-US" sz="2400" dirty="0">
                <a:solidFill>
                  <a:srgbClr val="404040"/>
                </a:solidFill>
                <a:ea typeface="Calibri" panose="020F0502020204030204" pitchFamily="34" charset="0"/>
                <a:sym typeface="Arial" panose="020B0604020202020204" pitchFamily="34" charset="0"/>
              </a:endParaRPr>
            </a:p>
          </p:txBody>
        </p:sp>
        <p:sp>
          <p:nvSpPr>
            <p:cNvPr id="4111" name="文本框 9"/>
            <p:cNvSpPr txBox="1"/>
            <p:nvPr/>
          </p:nvSpPr>
          <p:spPr>
            <a:xfrm>
              <a:off x="4495261" y="1641515"/>
              <a:ext cx="3316567" cy="310240"/>
            </a:xfrm>
            <a:prstGeom prst="rect">
              <a:avLst/>
            </a:prstGeom>
            <a:noFill/>
            <a:ln w="9525">
              <a:noFill/>
            </a:ln>
          </p:spPr>
          <p:txBody>
            <a:bodyPr wrap="square" anchor="t">
              <a:spAutoFit/>
            </a:bodyPr>
            <a:p>
              <a:pPr defTabSz="914400"/>
              <a:endParaRPr lang="zh-CN" altLang="en-US" sz="1600" dirty="0">
                <a:solidFill>
                  <a:srgbClr val="404040"/>
                </a:solidFill>
                <a:ea typeface="Calibri" panose="020F0502020204030204" pitchFamily="34" charset="0"/>
                <a:sym typeface="Arial" panose="020B0604020202020204" pitchFamily="34" charset="0"/>
              </a:endParaRPr>
            </a:p>
          </p:txBody>
        </p:sp>
      </p:grpSp>
      <p:sp>
        <p:nvSpPr>
          <p:cNvPr id="2" name="Text Box 1"/>
          <p:cNvSpPr txBox="1"/>
          <p:nvPr/>
        </p:nvSpPr>
        <p:spPr>
          <a:xfrm>
            <a:off x="3570605" y="2592070"/>
            <a:ext cx="5000625" cy="1445260"/>
          </a:xfrm>
          <a:prstGeom prst="rect">
            <a:avLst/>
          </a:prstGeom>
          <a:noFill/>
        </p:spPr>
        <p:txBody>
          <a:bodyPr wrap="square" rtlCol="0">
            <a:spAutoFit/>
          </a:bodyPr>
          <a:p>
            <a:r>
              <a:rPr lang="en-IN" altLang="en-US" sz="8800" i="1"/>
              <a:t>ABSTRACT</a:t>
            </a:r>
            <a:endParaRPr lang="en-IN" altLang="en-US" sz="8800" i="1"/>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11138" y="137160"/>
            <a:ext cx="3744912" cy="583565"/>
          </a:xfrm>
          <a:prstGeom prst="rect">
            <a:avLst/>
          </a:prstGeom>
          <a:noFill/>
          <a:ln w="9525">
            <a:noFill/>
          </a:ln>
        </p:spPr>
        <p:txBody>
          <a:bodyPr anchor="t">
            <a:spAutoFit/>
          </a:bodyPr>
          <a:p>
            <a:pPr>
              <a:buFont typeface="Arial" panose="020B0604020202020204" pitchFamily="34" charset="0"/>
            </a:pPr>
            <a:r>
              <a:rPr lang="en-IN" altLang="zh-CN" sz="2400" b="1" dirty="0">
                <a:solidFill>
                  <a:srgbClr val="404040"/>
                </a:solidFill>
                <a:ea typeface="Calibri" panose="020F0502020204030204" pitchFamily="34" charset="0"/>
              </a:rPr>
              <a:t> </a:t>
            </a:r>
            <a:r>
              <a:rPr lang="en-IN" altLang="zh-CN" sz="3200" b="1" dirty="0">
                <a:solidFill>
                  <a:srgbClr val="404040"/>
                </a:solidFill>
                <a:ea typeface="Calibri" panose="020F0502020204030204" pitchFamily="34" charset="0"/>
              </a:rPr>
              <a:t>Research Area</a:t>
            </a:r>
            <a:endParaRPr lang="en-IN" altLang="zh-CN" sz="3200" b="1" dirty="0">
              <a:solidFill>
                <a:srgbClr val="404040"/>
              </a:solidFill>
              <a:ea typeface="Calibri" panose="020F0502020204030204" pitchFamily="34" charset="0"/>
            </a:endParaRPr>
          </a:p>
        </p:txBody>
      </p:sp>
      <p:sp>
        <p:nvSpPr>
          <p:cNvPr id="12" name="矩形 11"/>
          <p:cNvSpPr/>
          <p:nvPr/>
        </p:nvSpPr>
        <p:spPr>
          <a:xfrm>
            <a:off x="828675" y="1728788"/>
            <a:ext cx="10515600" cy="2900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0252" name="图片 5" descr="C:\Users\sriba\Pictures\download.jpgdownload"/>
          <p:cNvPicPr>
            <a:picLocks noChangeAspect="1"/>
          </p:cNvPicPr>
          <p:nvPr/>
        </p:nvPicPr>
        <p:blipFill>
          <a:blip r:embed="rId2"/>
          <a:srcRect/>
          <a:stretch>
            <a:fillRect/>
          </a:stretch>
        </p:blipFill>
        <p:spPr>
          <a:xfrm>
            <a:off x="423863" y="3419476"/>
            <a:ext cx="3448050" cy="2216150"/>
          </a:xfrm>
          <a:prstGeom prst="rect">
            <a:avLst/>
          </a:prstGeom>
          <a:noFill/>
          <a:ln w="9525">
            <a:noFill/>
          </a:ln>
        </p:spPr>
      </p:pic>
      <p:sp>
        <p:nvSpPr>
          <p:cNvPr id="10253" name="文本框 6"/>
          <p:cNvSpPr txBox="1"/>
          <p:nvPr/>
        </p:nvSpPr>
        <p:spPr>
          <a:xfrm>
            <a:off x="957263" y="1757363"/>
            <a:ext cx="5043487" cy="521970"/>
          </a:xfrm>
          <a:prstGeom prst="rect">
            <a:avLst/>
          </a:prstGeom>
          <a:noFill/>
          <a:ln w="9525">
            <a:noFill/>
          </a:ln>
        </p:spPr>
        <p:txBody>
          <a:bodyPr anchor="t">
            <a:spAutoFit/>
          </a:bodyPr>
          <a:p>
            <a:pPr>
              <a:buFont typeface="Arial" panose="020B0604020202020204" pitchFamily="34" charset="0"/>
            </a:pPr>
            <a:r>
              <a:rPr lang="en-IN" altLang="zh-CN" sz="2800" b="1" dirty="0">
                <a:solidFill>
                  <a:srgbClr val="404040"/>
                </a:solidFill>
                <a:ea typeface="Calibri" panose="020F0502020204030204" pitchFamily="34" charset="0"/>
              </a:rPr>
              <a:t>Machine Learning </a:t>
            </a:r>
            <a:endParaRPr lang="en-IN" altLang="zh-CN" sz="2800" b="1" dirty="0">
              <a:solidFill>
                <a:srgbClr val="404040"/>
              </a:solidFill>
              <a:ea typeface="Calibri" panose="020F0502020204030204" pitchFamily="34" charset="0"/>
            </a:endParaRPr>
          </a:p>
        </p:txBody>
      </p:sp>
      <p:sp>
        <p:nvSpPr>
          <p:cNvPr id="10255" name="矩形 8"/>
          <p:cNvSpPr/>
          <p:nvPr/>
        </p:nvSpPr>
        <p:spPr>
          <a:xfrm>
            <a:off x="4702175" y="2471420"/>
            <a:ext cx="6040438" cy="2407920"/>
          </a:xfrm>
          <a:prstGeom prst="rect">
            <a:avLst/>
          </a:prstGeom>
          <a:noFill/>
          <a:ln w="9525">
            <a:noFill/>
          </a:ln>
        </p:spPr>
        <p:txBody>
          <a:bodyPr wrap="square" lIns="0" tIns="0" rIns="0" bIns="0" anchor="t">
            <a:spAutoFit/>
          </a:bodyPr>
          <a:p>
            <a:pPr algn="l" defTabSz="1216025">
              <a:lnSpc>
                <a:spcPct val="120000"/>
              </a:lnSpc>
              <a:spcBef>
                <a:spcPct val="20000"/>
              </a:spcBef>
              <a:buFont typeface="Arial" panose="020B0604020202020204" pitchFamily="34" charset="0"/>
            </a:pPr>
            <a:r>
              <a:rPr lang="en-US" altLang="zh-CN" sz="1600" b="1" dirty="0">
                <a:solidFill>
                  <a:srgbClr val="404040"/>
                </a:solidFill>
                <a:ea typeface="Calibri" panose="020F0502020204030204" pitchFamily="34" charset="0"/>
                <a:sym typeface="Arial" panose="020B0604020202020204" pitchFamily="34" charset="0"/>
              </a:rPr>
              <a:t>Machine Learning (ML) is basically that field of computer science with the help of which computer systems can provide sense to data in much the same way as human beings do. In simple words, ML is a type of artificial intelligence that extract patterns out of raw data by using an algorithm or method. The key focus of ML is to allow computer systems to learn from experience without being explicitly programmed or human intervention.</a:t>
            </a:r>
            <a:endParaRPr lang="en-US" altLang="zh-CN" sz="1600" b="1" dirty="0">
              <a:solidFill>
                <a:srgbClr val="404040"/>
              </a:solidFill>
              <a:ea typeface="Calibri" panose="020F0502020204030204" pitchFamily="34" charset="0"/>
              <a:sym typeface="Arial" panose="020B0604020202020204" pitchFamily="34" charset="0"/>
            </a:endParaRPr>
          </a:p>
          <a:p>
            <a:pPr algn="ctr" defTabSz="1216025">
              <a:lnSpc>
                <a:spcPct val="120000"/>
              </a:lnSpc>
              <a:spcBef>
                <a:spcPct val="20000"/>
              </a:spcBef>
              <a:buFont typeface="Arial" panose="020B0604020202020204" pitchFamily="34" charset="0"/>
            </a:pPr>
            <a:r>
              <a:rPr lang="en-US" altLang="zh-CN" sz="1600" b="1" dirty="0">
                <a:solidFill>
                  <a:srgbClr val="404040"/>
                </a:solidFill>
                <a:ea typeface="Calibri" panose="020F0502020204030204" pitchFamily="34" charset="0"/>
                <a:sym typeface="Arial" panose="020B0604020202020204" pitchFamily="34" charset="0"/>
              </a:rPr>
              <a:t> </a:t>
            </a:r>
            <a:endParaRPr lang="en-US" altLang="zh-CN" sz="1600" b="1" dirty="0">
              <a:solidFill>
                <a:srgbClr val="404040"/>
              </a:solidFill>
              <a:ea typeface="Calibri" panose="020F0502020204030204" pitchFamily="34" charset="0"/>
              <a:sym typeface="Arial" panose="020B0604020202020204" pitchFamily="34" charset="0"/>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5"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1266"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1274" name="文本框 28"/>
          <p:cNvSpPr txBox="1"/>
          <p:nvPr/>
        </p:nvSpPr>
        <p:spPr>
          <a:xfrm>
            <a:off x="253683" y="257175"/>
            <a:ext cx="3744912" cy="521970"/>
          </a:xfrm>
          <a:prstGeom prst="rect">
            <a:avLst/>
          </a:prstGeom>
          <a:noFill/>
          <a:ln w="9525">
            <a:noFill/>
          </a:ln>
        </p:spPr>
        <p:txBody>
          <a:bodyPr anchor="t">
            <a:spAutoFit/>
          </a:bodyPr>
          <a:p>
            <a:pPr>
              <a:buFont typeface="Arial" panose="020B0604020202020204" pitchFamily="34" charset="0"/>
            </a:pPr>
            <a:r>
              <a:rPr lang="en-IN" altLang="zh-CN" sz="2800" b="1" dirty="0">
                <a:solidFill>
                  <a:srgbClr val="404040"/>
                </a:solidFill>
                <a:ea typeface="Calibri" panose="020F0502020204030204" pitchFamily="34" charset="0"/>
              </a:rPr>
              <a:t>Introduction To Project</a:t>
            </a:r>
            <a:endParaRPr lang="en-IN" altLang="zh-CN" sz="2800" b="1" dirty="0">
              <a:solidFill>
                <a:srgbClr val="404040"/>
              </a:solidFill>
              <a:ea typeface="Calibri" panose="020F0502020204030204" pitchFamily="34" charset="0"/>
            </a:endParaRPr>
          </a:p>
        </p:txBody>
      </p:sp>
      <p:sp>
        <p:nvSpPr>
          <p:cNvPr id="12" name="矩形 11"/>
          <p:cNvSpPr/>
          <p:nvPr/>
        </p:nvSpPr>
        <p:spPr>
          <a:xfrm>
            <a:off x="1662113" y="1736725"/>
            <a:ext cx="2994025" cy="3767138"/>
          </a:xfrm>
          <a:prstGeom prst="rect">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mn-lt"/>
              <a:ea typeface="+mn-ea"/>
              <a:cs typeface="+mn-cs"/>
            </a:endParaRPr>
          </a:p>
        </p:txBody>
      </p:sp>
      <p:pic>
        <p:nvPicPr>
          <p:cNvPr id="11276" name="图片 5" descr="C:\Users\sriba\Pictures\file-20190717-173334-1b9vdud.jpgfile-20190717-173334-1b9vdud"/>
          <p:cNvPicPr>
            <a:picLocks noChangeAspect="1"/>
          </p:cNvPicPr>
          <p:nvPr/>
        </p:nvPicPr>
        <p:blipFill>
          <a:blip r:embed="rId2"/>
          <a:srcRect/>
          <a:stretch>
            <a:fillRect/>
          </a:stretch>
        </p:blipFill>
        <p:spPr>
          <a:xfrm>
            <a:off x="1943100" y="1894205"/>
            <a:ext cx="3209925" cy="3530600"/>
          </a:xfrm>
          <a:prstGeom prst="rect">
            <a:avLst/>
          </a:prstGeom>
          <a:noFill/>
          <a:ln w="9525">
            <a:noFill/>
          </a:ln>
        </p:spPr>
      </p:pic>
      <p:sp>
        <p:nvSpPr>
          <p:cNvPr id="14" name="矩形 13"/>
          <p:cNvSpPr/>
          <p:nvPr/>
        </p:nvSpPr>
        <p:spPr>
          <a:xfrm>
            <a:off x="1382713" y="1455738"/>
            <a:ext cx="560388" cy="560388"/>
          </a:xfrm>
          <a:prstGeom prst="rect">
            <a:avLst/>
          </a:prstGeom>
          <a:no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mn-lt"/>
              <a:ea typeface="+mn-ea"/>
              <a:cs typeface="+mn-cs"/>
            </a:endParaRPr>
          </a:p>
        </p:txBody>
      </p:sp>
      <p:sp>
        <p:nvSpPr>
          <p:cNvPr id="68" name="矩形 13"/>
          <p:cNvSpPr>
            <a:spLocks noChangeArrowheads="1"/>
          </p:cNvSpPr>
          <p:nvPr/>
        </p:nvSpPr>
        <p:spPr bwMode="auto">
          <a:xfrm>
            <a:off x="6723063" y="939800"/>
            <a:ext cx="4008438" cy="516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marL="0" marR="0" lvl="0" indent="0" algn="l" defTabSz="1216025" rtl="0" eaLnBrk="1" fontAlgn="auto" latinLnBrk="0" hangingPunct="1">
              <a:lnSpc>
                <a:spcPct val="120000"/>
              </a:lnSpc>
              <a:spcBef>
                <a:spcPct val="20000"/>
              </a:spcBef>
              <a:spcAft>
                <a:spcPts val="0"/>
              </a:spcAft>
              <a:buClrTx/>
              <a:buSzTx/>
              <a:buFontTx/>
              <a:buNone/>
              <a:defRPr/>
            </a:pPr>
            <a:r>
              <a:rPr kumimoji="0" lang="en-US" altLang="zh-CN" sz="1400" b="0" i="0" u="none" strike="noStrike" kern="1200" cap="none" spc="0" normalizeH="0" baseline="0" noProof="0">
                <a:ln>
                  <a:noFill/>
                </a:ln>
                <a:solidFill>
                  <a:schemeClr val="tx1">
                    <a:lumMod val="50000"/>
                    <a:lumOff val="50000"/>
                  </a:schemeClr>
                </a:solidFill>
                <a:effectLst/>
                <a:uLnTx/>
                <a:uFillTx/>
                <a:ea typeface="Calibri" panose="020F0502020204030204" pitchFamily="34" charset="0"/>
                <a:cs typeface="+mn-cs"/>
                <a:sym typeface="Arial" panose="020B0604020202020204" pitchFamily="34" charset="0"/>
              </a:rPr>
              <a:t> </a:t>
            </a:r>
            <a:r>
              <a:rPr kumimoji="0" lang="en-IN" altLang="en-US" b="1" i="0" u="none" strike="noStrike" kern="1200" cap="none" spc="0" normalizeH="0" baseline="0" noProof="0">
                <a:ln>
                  <a:noFill/>
                </a:ln>
                <a:solidFill>
                  <a:schemeClr val="bg2">
                    <a:lumMod val="10000"/>
                  </a:schemeClr>
                </a:solidFill>
                <a:effectLst/>
                <a:uLnTx/>
                <a:uFillTx/>
                <a:ea typeface="Calibri" panose="020F0502020204030204" pitchFamily="34" charset="0"/>
                <a:cs typeface="+mn-cs"/>
                <a:sym typeface="Arial" panose="020B0604020202020204" pitchFamily="34" charset="0"/>
              </a:rPr>
              <a:t>FAKE NEWS DETECTION</a:t>
            </a:r>
            <a:r>
              <a:rPr kumimoji="0" lang="en-US" altLang="zh-CN" b="1" i="0" u="none" strike="noStrike" kern="1200" cap="none" spc="0" normalizeH="0" baseline="0" noProof="0">
                <a:ln>
                  <a:noFill/>
                </a:ln>
                <a:solidFill>
                  <a:schemeClr val="tx1">
                    <a:lumMod val="50000"/>
                    <a:lumOff val="50000"/>
                  </a:schemeClr>
                </a:solidFill>
                <a:effectLst/>
                <a:uLnTx/>
                <a:uFillTx/>
                <a:ea typeface="Calibri" panose="020F0502020204030204" pitchFamily="34" charset="0"/>
                <a:cs typeface="+mn-cs"/>
                <a:sym typeface="Arial" panose="020B0604020202020204" pitchFamily="34" charset="0"/>
              </a:rPr>
              <a:t>.</a:t>
            </a:r>
            <a:endParaRPr kumimoji="0" lang="en-US" altLang="zh-CN" b="1" i="0" u="none" strike="noStrike" kern="1200" cap="none" spc="0" normalizeH="0" baseline="0" noProof="0">
              <a:ln>
                <a:noFill/>
              </a:ln>
              <a:solidFill>
                <a:schemeClr val="tx1">
                  <a:lumMod val="50000"/>
                  <a:lumOff val="50000"/>
                </a:schemeClr>
              </a:solidFill>
              <a:effectLst/>
              <a:uLnTx/>
              <a:uFillTx/>
              <a:ea typeface="Calibri" panose="020F0502020204030204" pitchFamily="34" charset="0"/>
              <a:cs typeface="+mn-cs"/>
              <a:sym typeface="Arial" panose="020B0604020202020204" pitchFamily="34" charset="0"/>
            </a:endParaRPr>
          </a:p>
        </p:txBody>
      </p:sp>
      <p:sp>
        <p:nvSpPr>
          <p:cNvPr id="69" name="矩形 13"/>
          <p:cNvSpPr>
            <a:spLocks noChangeArrowheads="1"/>
          </p:cNvSpPr>
          <p:nvPr/>
        </p:nvSpPr>
        <p:spPr bwMode="auto">
          <a:xfrm>
            <a:off x="6009005" y="1894205"/>
            <a:ext cx="5690235" cy="442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The main objective is to detect the fake news, which is a classic text classification problem with a straight forward proposition. It is needed to build a model that can differentiate between “Real” news and “Fake” news</a:t>
            </a:r>
            <a:r>
              <a:rPr kumimoji="0" lang="en-IN" altLang="en-US"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a:t>
            </a:r>
            <a:endPar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endPar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These days’ fake news is creating different issues from sarcastic articles to a fabricated news and plan government propaganda in some outlets. </a:t>
            </a:r>
            <a:endPar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endPar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Fake news and lack of trust in the media are growing problems with huge ramifications in our society.</a:t>
            </a:r>
            <a:endPar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endPar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In this </a:t>
            </a:r>
            <a:r>
              <a:rPr kumimoji="0" lang="en-IN" altLang="en-US"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PROJECT</a:t>
            </a:r>
            <a:r>
              <a:rPr kumimoji="0" lang="en-US" altLang="zh-CN"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,it is  seeked to produce a model that can accurately predict the likelihood that a given article is fake news</a:t>
            </a:r>
            <a:r>
              <a:rPr kumimoji="0" lang="en-IN" altLang="en-US"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 or real news.</a:t>
            </a:r>
            <a:endParaRPr kumimoji="0" lang="en-IN" altLang="en-US" sz="16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p:txBody>
      </p:sp>
      <p:sp>
        <p:nvSpPr>
          <p:cNvPr id="70" name="矩形 13"/>
          <p:cNvSpPr>
            <a:spLocks noChangeArrowheads="1"/>
          </p:cNvSpPr>
          <p:nvPr/>
        </p:nvSpPr>
        <p:spPr bwMode="auto">
          <a:xfrm>
            <a:off x="6723063" y="5159375"/>
            <a:ext cx="4006850" cy="25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marL="0" marR="0" lvl="0" indent="0" algn="l" defTabSz="1216025" rtl="0" eaLnBrk="1" fontAlgn="auto" latinLnBrk="0" hangingPunct="1">
              <a:lnSpc>
                <a:spcPct val="120000"/>
              </a:lnSpc>
              <a:spcBef>
                <a:spcPct val="20000"/>
              </a:spcBef>
              <a:spcAft>
                <a:spcPts val="0"/>
              </a:spcAft>
              <a:buClrTx/>
              <a:buSzTx/>
              <a:buFontTx/>
              <a:buNone/>
              <a:defRPr/>
            </a:pPr>
            <a:endParaRPr kumimoji="0" lang="en-US" altLang="zh-CN" sz="1400" b="0" i="0" u="none" strike="noStrike" kern="1200" cap="none" spc="0" normalizeH="0" baseline="0" noProof="0">
              <a:ln>
                <a:noFill/>
              </a:ln>
              <a:solidFill>
                <a:schemeClr val="tx1">
                  <a:lumMod val="50000"/>
                  <a:lumOff val="50000"/>
                </a:schemeClr>
              </a:solidFill>
              <a:effectLst/>
              <a:uLnTx/>
              <a:uFillTx/>
              <a:ea typeface="Calibri" panose="020F0502020204030204" pitchFamily="34" charset="0"/>
              <a:cs typeface="+mn-cs"/>
              <a:sym typeface="Arial" panose="020B0604020202020204" pitchFamily="34" charset="0"/>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36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5363" name="文本框 6"/>
          <p:cNvSpPr txBox="1"/>
          <p:nvPr/>
        </p:nvSpPr>
        <p:spPr>
          <a:xfrm>
            <a:off x="684530" y="461010"/>
            <a:ext cx="3985260" cy="645160"/>
          </a:xfrm>
          <a:prstGeom prst="rect">
            <a:avLst/>
          </a:prstGeom>
          <a:noFill/>
          <a:ln w="9525">
            <a:noFill/>
          </a:ln>
        </p:spPr>
        <p:txBody>
          <a:bodyPr wrap="square" anchor="t">
            <a:spAutoFit/>
          </a:bodyPr>
          <a:p>
            <a:pPr>
              <a:buFont typeface="Arial" panose="020B0604020202020204" pitchFamily="34" charset="0"/>
            </a:pPr>
            <a:r>
              <a:rPr lang="en-IN" altLang="zh-CN" sz="3600" b="1" dirty="0">
                <a:solidFill>
                  <a:srgbClr val="404040"/>
                </a:solidFill>
                <a:ea typeface="Calibri" panose="020F0502020204030204" pitchFamily="34" charset="0"/>
              </a:rPr>
              <a:t>Existing  System</a:t>
            </a:r>
            <a:endParaRPr lang="en-IN" altLang="zh-CN" sz="3600" b="1" dirty="0">
              <a:solidFill>
                <a:srgbClr val="404040"/>
              </a:solidFill>
              <a:ea typeface="Calibri" panose="020F0502020204030204" pitchFamily="34" charset="0"/>
            </a:endParaRPr>
          </a:p>
        </p:txBody>
      </p:sp>
      <p:sp>
        <p:nvSpPr>
          <p:cNvPr id="14" name="矩形 8"/>
          <p:cNvSpPr>
            <a:spLocks noChangeArrowheads="1"/>
          </p:cNvSpPr>
          <p:nvPr/>
        </p:nvSpPr>
        <p:spPr bwMode="auto">
          <a:xfrm>
            <a:off x="801370" y="1468120"/>
            <a:ext cx="8232140" cy="480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IN" altLang="en-US" sz="2000" b="1"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Fake News Detector</a:t>
            </a:r>
            <a:r>
              <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 was a feature added by Flock-a new generation messaging and collaborative platform. </a:t>
            </a:r>
            <a:endPar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just"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Wheneverlinks are being sent to each while chatting, FND algorithm gets activated.It checks the content of links to their databases of websites computed according to rankings. </a:t>
            </a:r>
            <a:endPar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just"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It gives a statistic rating and generates a warning message if the source is not found to be reliable.</a:t>
            </a:r>
            <a:endPar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just"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Flocks database has more than 600 news URL’S that are fact-checked.</a:t>
            </a:r>
            <a:endPar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just" defTabSz="1216025" rtl="0" eaLnBrk="1" fontAlgn="auto" latinLnBrk="0" hangingPunct="1">
              <a:lnSpc>
                <a:spcPct val="120000"/>
              </a:lnSpc>
              <a:spcBef>
                <a:spcPct val="20000"/>
              </a:spcBef>
              <a:spcAft>
                <a:spcPts val="0"/>
              </a:spcAft>
              <a:buClrTx/>
              <a:buSzTx/>
              <a:buFont typeface="Wingdings" panose="05000000000000000000" charset="0"/>
              <a:buChar char="Ø"/>
              <a:defRPr/>
            </a:pPr>
            <a:endPar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just" defTabSz="1216025" rtl="0" eaLnBrk="1" fontAlgn="auto" latinLnBrk="0" hangingPunct="1">
              <a:lnSpc>
                <a:spcPct val="120000"/>
              </a:lnSpc>
              <a:spcBef>
                <a:spcPct val="20000"/>
              </a:spcBef>
              <a:spcAft>
                <a:spcPts val="0"/>
              </a:spcAft>
              <a:buClrTx/>
              <a:buSzTx/>
              <a:buFont typeface="Wingdings" panose="05000000000000000000" charset="0"/>
              <a:buNone/>
              <a:defRPr/>
            </a:pPr>
            <a:r>
              <a:rPr lang="en-IN" altLang="en-US" sz="2000" noProof="0">
                <a:ln>
                  <a:noFill/>
                </a:ln>
                <a:solidFill>
                  <a:schemeClr val="bg2">
                    <a:lumMod val="25000"/>
                  </a:schemeClr>
                </a:solidFill>
                <a:effectLst/>
                <a:uLnTx/>
                <a:uFillTx/>
                <a:ea typeface="Calibri" panose="020F0502020204030204" pitchFamily="34" charset="0"/>
                <a:sym typeface="Arial" panose="020B0604020202020204" pitchFamily="34" charset="0"/>
              </a:rPr>
              <a:t> </a:t>
            </a:r>
            <a:r>
              <a:rPr lang="en-IN" altLang="en-US" sz="2000" b="1" i="1" noProof="0">
                <a:ln>
                  <a:noFill/>
                </a:ln>
                <a:solidFill>
                  <a:schemeClr val="bg2">
                    <a:lumMod val="25000"/>
                  </a:schemeClr>
                </a:solidFill>
                <a:effectLst/>
                <a:uLnTx/>
                <a:uFillTx/>
                <a:ea typeface="Calibri" panose="020F0502020204030204" pitchFamily="34" charset="0"/>
                <a:sym typeface="Arial" panose="020B0604020202020204" pitchFamily="34" charset="0"/>
              </a:rPr>
              <a:t>D</a:t>
            </a:r>
            <a:r>
              <a:rPr lang="en-IN" altLang="en-US" sz="2000" b="1" i="1" u="sng" noProof="0">
                <a:ln>
                  <a:noFill/>
                </a:ln>
                <a:solidFill>
                  <a:schemeClr val="bg2">
                    <a:lumMod val="25000"/>
                  </a:schemeClr>
                </a:solidFill>
                <a:effectLst/>
                <a:uLnTx/>
                <a:uFillTx/>
                <a:ea typeface="Calibri" panose="020F0502020204030204" pitchFamily="34" charset="0"/>
                <a:sym typeface="Arial" panose="020B0604020202020204" pitchFamily="34" charset="0"/>
              </a:rPr>
              <a:t>rawbacks</a:t>
            </a:r>
            <a:r>
              <a:rPr lang="en-IN" altLang="en-US" sz="2000" noProof="0">
                <a:ln>
                  <a:noFill/>
                </a:ln>
                <a:solidFill>
                  <a:schemeClr val="bg2">
                    <a:lumMod val="25000"/>
                  </a:schemeClr>
                </a:solidFill>
                <a:effectLst/>
                <a:uLnTx/>
                <a:uFillTx/>
                <a:ea typeface="Calibri" panose="020F0502020204030204" pitchFamily="34" charset="0"/>
                <a:sym typeface="Arial" panose="020B0604020202020204" pitchFamily="34" charset="0"/>
              </a:rPr>
              <a:t>:</a:t>
            </a:r>
            <a:endPar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just"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The drawback of this system is that their database for fact checking is less in number and chances of hoaxes still not being determined are high.</a:t>
            </a:r>
            <a:endParaRPr kumimoji="0" lang="en-IN" altLang="en-US" sz="200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p:txBody>
      </p:sp>
      <p:sp>
        <p:nvSpPr>
          <p:cNvPr id="16" name="矩形 15"/>
          <p:cNvSpPr/>
          <p:nvPr/>
        </p:nvSpPr>
        <p:spPr>
          <a:xfrm>
            <a:off x="9809163" y="0"/>
            <a:ext cx="19367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89"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2290"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2298" name="文本框 28"/>
          <p:cNvSpPr txBox="1"/>
          <p:nvPr/>
        </p:nvSpPr>
        <p:spPr>
          <a:xfrm>
            <a:off x="290513" y="254000"/>
            <a:ext cx="3744912" cy="521970"/>
          </a:xfrm>
          <a:prstGeom prst="rect">
            <a:avLst/>
          </a:prstGeom>
          <a:noFill/>
          <a:ln w="9525">
            <a:noFill/>
          </a:ln>
        </p:spPr>
        <p:txBody>
          <a:bodyPr anchor="t">
            <a:spAutoFit/>
          </a:bodyPr>
          <a:p>
            <a:pPr>
              <a:buFont typeface="Arial" panose="020B0604020202020204" pitchFamily="34" charset="0"/>
            </a:pPr>
            <a:r>
              <a:rPr lang="en-IN" altLang="zh-CN" sz="2800" b="1" dirty="0">
                <a:solidFill>
                  <a:srgbClr val="404040"/>
                </a:solidFill>
                <a:ea typeface="Calibri" panose="020F0502020204030204" pitchFamily="34" charset="0"/>
              </a:rPr>
              <a:t>Proposed System</a:t>
            </a:r>
            <a:endParaRPr lang="en-IN" altLang="zh-CN" sz="2800" b="1" dirty="0">
              <a:solidFill>
                <a:srgbClr val="404040"/>
              </a:solidFill>
              <a:ea typeface="Calibri" panose="020F0502020204030204" pitchFamily="34" charset="0"/>
            </a:endParaRPr>
          </a:p>
        </p:txBody>
      </p:sp>
      <p:sp>
        <p:nvSpPr>
          <p:cNvPr id="12" name="矩形 11"/>
          <p:cNvSpPr/>
          <p:nvPr/>
        </p:nvSpPr>
        <p:spPr>
          <a:xfrm>
            <a:off x="0" y="2314575"/>
            <a:ext cx="12192000" cy="2343150"/>
          </a:xfrm>
          <a:prstGeom prst="rect">
            <a:avLst/>
          </a:prstGeom>
          <a:solidFill>
            <a:schemeClr val="bg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mn-lt"/>
              <a:ea typeface="+mn-ea"/>
              <a:cs typeface="+mn-cs"/>
            </a:endParaRPr>
          </a:p>
        </p:txBody>
      </p:sp>
      <p:sp>
        <p:nvSpPr>
          <p:cNvPr id="13" name="矩形 10"/>
          <p:cNvSpPr>
            <a:spLocks noChangeArrowheads="1"/>
          </p:cNvSpPr>
          <p:nvPr/>
        </p:nvSpPr>
        <p:spPr bwMode="auto">
          <a:xfrm>
            <a:off x="5875338" y="2835275"/>
            <a:ext cx="6040438" cy="294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marL="0" marR="0" lvl="0" indent="0" algn="l" defTabSz="1216025" rtl="0" eaLnBrk="1" fontAlgn="auto" latinLnBrk="0" hangingPunct="1">
              <a:lnSpc>
                <a:spcPct val="120000"/>
              </a:lnSpc>
              <a:spcBef>
                <a:spcPct val="20000"/>
              </a:spcBef>
              <a:spcAft>
                <a:spcPts val="0"/>
              </a:spcAft>
              <a:buClrTx/>
              <a:buSzTx/>
              <a:buFontTx/>
              <a:buNone/>
              <a:defRPr/>
            </a:pPr>
            <a:r>
              <a:rPr kumimoji="0" lang="en-US" altLang="zh-CN" sz="1600" b="0" i="0" u="none" strike="noStrike" kern="1200" cap="none" spc="0" normalizeH="0" baseline="0" noProof="0">
                <a:ln>
                  <a:noFill/>
                </a:ln>
                <a:solidFill>
                  <a:schemeClr val="tx1">
                    <a:lumMod val="50000"/>
                    <a:lumOff val="50000"/>
                  </a:schemeClr>
                </a:solidFill>
                <a:effectLst/>
                <a:uLnTx/>
                <a:uFillTx/>
                <a:ea typeface="Calibri" panose="020F0502020204030204" pitchFamily="34" charset="0"/>
                <a:cs typeface="+mn-cs"/>
                <a:sym typeface="Arial" panose="020B0604020202020204" pitchFamily="34" charset="0"/>
              </a:rPr>
              <a:t> </a:t>
            </a:r>
            <a:endParaRPr kumimoji="0" lang="en-US" altLang="zh-CN" sz="1600" b="0" i="0" u="none" strike="noStrike" kern="1200" cap="none" spc="0" normalizeH="0" baseline="0" noProof="0">
              <a:ln>
                <a:noFill/>
              </a:ln>
              <a:solidFill>
                <a:schemeClr val="tx1">
                  <a:lumMod val="50000"/>
                  <a:lumOff val="50000"/>
                </a:schemeClr>
              </a:solidFill>
              <a:effectLst/>
              <a:uLnTx/>
              <a:uFillTx/>
              <a:ea typeface="Calibri" panose="020F0502020204030204" pitchFamily="34" charset="0"/>
              <a:cs typeface="+mn-cs"/>
              <a:sym typeface="Arial" panose="020B0604020202020204" pitchFamily="34" charset="0"/>
            </a:endParaRPr>
          </a:p>
        </p:txBody>
      </p:sp>
      <p:pic>
        <p:nvPicPr>
          <p:cNvPr id="14" name="图片 13" descr="C:\Users\sriba\Pictures\twitter_fake_news_3.jpgtwitter_fake_news_3"/>
          <p:cNvPicPr>
            <a:picLocks noChangeAspect="1"/>
          </p:cNvPicPr>
          <p:nvPr/>
        </p:nvPicPr>
        <p:blipFill>
          <a:blip r:embed="rId2"/>
          <a:srcRect/>
          <a:stretch>
            <a:fillRect/>
          </a:stretch>
        </p:blipFill>
        <p:spPr>
          <a:xfrm>
            <a:off x="913765" y="1094105"/>
            <a:ext cx="4451985" cy="3832860"/>
          </a:xfrm>
          <a:custGeom>
            <a:avLst/>
            <a:gdLst>
              <a:gd name="connsiteX0" fmla="*/ 0 w 3352800"/>
              <a:gd name="connsiteY0" fmla="*/ 0 h 2245895"/>
              <a:gd name="connsiteX1" fmla="*/ 3352800 w 3352800"/>
              <a:gd name="connsiteY1" fmla="*/ 0 h 2245895"/>
              <a:gd name="connsiteX2" fmla="*/ 3352800 w 3352800"/>
              <a:gd name="connsiteY2" fmla="*/ 2245895 h 2245895"/>
              <a:gd name="connsiteX3" fmla="*/ 0 w 3352800"/>
              <a:gd name="connsiteY3" fmla="*/ 2245895 h 2245895"/>
            </a:gdLst>
            <a:ahLst/>
            <a:cxnLst>
              <a:cxn ang="0">
                <a:pos x="connsiteX0" y="connsiteY0"/>
              </a:cxn>
              <a:cxn ang="0">
                <a:pos x="connsiteX1" y="connsiteY1"/>
              </a:cxn>
              <a:cxn ang="0">
                <a:pos x="connsiteX2" y="connsiteY2"/>
              </a:cxn>
              <a:cxn ang="0">
                <a:pos x="connsiteX3" y="connsiteY3"/>
              </a:cxn>
            </a:cxnLst>
            <a:rect l="l" t="t" r="r" b="b"/>
            <a:pathLst>
              <a:path w="3352800" h="2245895">
                <a:moveTo>
                  <a:pt x="0" y="0"/>
                </a:moveTo>
                <a:lnTo>
                  <a:pt x="3352800" y="0"/>
                </a:lnTo>
                <a:lnTo>
                  <a:pt x="3352800" y="2245895"/>
                </a:lnTo>
                <a:lnTo>
                  <a:pt x="0" y="2245895"/>
                </a:lnTo>
                <a:close/>
              </a:path>
            </a:pathLst>
          </a:custGeom>
        </p:spPr>
      </p:pic>
      <p:sp>
        <p:nvSpPr>
          <p:cNvPr id="15" name="矩形 14"/>
          <p:cNvSpPr/>
          <p:nvPr/>
        </p:nvSpPr>
        <p:spPr>
          <a:xfrm>
            <a:off x="746760" y="1015365"/>
            <a:ext cx="4786630" cy="4150360"/>
          </a:xfrm>
          <a:prstGeom prst="rect">
            <a:avLst/>
          </a:prstGeom>
          <a:noFill/>
          <a:ln>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mn-lt"/>
              <a:ea typeface="+mn-ea"/>
              <a:cs typeface="+mn-cs"/>
            </a:endParaRPr>
          </a:p>
        </p:txBody>
      </p:sp>
      <p:sp>
        <p:nvSpPr>
          <p:cNvPr id="4" name="矩形 10"/>
          <p:cNvSpPr>
            <a:spLocks noChangeArrowheads="1"/>
          </p:cNvSpPr>
          <p:nvPr/>
        </p:nvSpPr>
        <p:spPr bwMode="auto">
          <a:xfrm>
            <a:off x="5776278" y="775970"/>
            <a:ext cx="6040438" cy="415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Since this problem is a kind of text classification, Implementing a Naive Bayes classifier will be best as this is standard for text-based  processing.</a:t>
            </a:r>
            <a:endPar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US" altLang="zh-CN"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The actual goal is in developing a model which was the text transformation  and choosing which type of text to use (headlines vs full text) </a:t>
            </a:r>
            <a:r>
              <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a:t>
            </a:r>
            <a:endPar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Next step is to extract the most optimal features .</a:t>
            </a:r>
            <a:endPar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This is done by using a n-number of the most used words, and/or phrases, lower casing or not, mainly removing the stop words which are common words such as “the”, “when”, and “there” and only using those words that appear at least a given number of times in a given text dataset.</a:t>
            </a:r>
            <a:endPar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p:txBody>
      </p:sp>
      <p:sp>
        <p:nvSpPr>
          <p:cNvPr id="6" name="矩形 10"/>
          <p:cNvSpPr>
            <a:spLocks noChangeArrowheads="1"/>
          </p:cNvSpPr>
          <p:nvPr/>
        </p:nvSpPr>
        <p:spPr bwMode="auto">
          <a:xfrm>
            <a:off x="746760" y="5414645"/>
            <a:ext cx="10690225" cy="718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marR="0" lvl="0" algn="l" defTabSz="1216025" rtl="0" eaLnBrk="1" fontAlgn="auto" latinLnBrk="0" hangingPunct="1">
              <a:lnSpc>
                <a:spcPct val="120000"/>
              </a:lnSpc>
              <a:spcBef>
                <a:spcPct val="20000"/>
              </a:spcBef>
              <a:spcAft>
                <a:spcPts val="0"/>
              </a:spcAft>
              <a:buClrTx/>
              <a:buSzTx/>
              <a:buFont typeface="Wingdings" panose="05000000000000000000" charset="0"/>
              <a:buNone/>
              <a:defRPr/>
            </a:pPr>
            <a:r>
              <a:rPr kumimoji="0" lang="en-IN" altLang="en-US" sz="1800" b="1"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ADVANTAGES:</a:t>
            </a:r>
            <a:endPar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a:p>
            <a:pPr marR="0" lvl="0" algn="l" defTabSz="1216025" rtl="0" eaLnBrk="1" fontAlgn="auto" latinLnBrk="0" hangingPunct="1">
              <a:lnSpc>
                <a:spcPct val="120000"/>
              </a:lnSpc>
              <a:spcBef>
                <a:spcPct val="20000"/>
              </a:spcBef>
              <a:spcAft>
                <a:spcPts val="0"/>
              </a:spcAft>
              <a:buClrTx/>
              <a:buSzTx/>
              <a:buFont typeface="Wingdings" panose="05000000000000000000" charset="0"/>
              <a:buChar char="Ø"/>
              <a:defRPr/>
            </a:pPr>
            <a:r>
              <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rPr>
              <a:t>The Naive Bayes Classifier helps to predict the output  with more accuracy than that of the existing systems.</a:t>
            </a:r>
            <a:endParaRPr kumimoji="0" lang="en-IN" altLang="en-US" sz="1800" b="0" i="0" u="none" strike="noStrike" kern="1200" cap="none" spc="0" normalizeH="0" baseline="0" noProof="0">
              <a:ln>
                <a:noFill/>
              </a:ln>
              <a:solidFill>
                <a:schemeClr val="bg2">
                  <a:lumMod val="25000"/>
                </a:schemeClr>
              </a:solidFill>
              <a:effectLst/>
              <a:uLnTx/>
              <a:uFillTx/>
              <a:ea typeface="Calibri" panose="020F0502020204030204" pitchFamily="34" charset="0"/>
              <a:cs typeface="+mn-cs"/>
              <a:sym typeface="Arial" panose="020B0604020202020204" pitchFamily="34" charset="0"/>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3"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28674"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8682" name="文本框 28"/>
          <p:cNvSpPr txBox="1"/>
          <p:nvPr/>
        </p:nvSpPr>
        <p:spPr>
          <a:xfrm>
            <a:off x="290830" y="254000"/>
            <a:ext cx="5483860" cy="521970"/>
          </a:xfrm>
          <a:prstGeom prst="rect">
            <a:avLst/>
          </a:prstGeom>
          <a:noFill/>
          <a:ln w="9525">
            <a:noFill/>
          </a:ln>
        </p:spPr>
        <p:txBody>
          <a:bodyPr wrap="square" anchor="t">
            <a:spAutoFit/>
          </a:bodyPr>
          <a:p>
            <a:pPr>
              <a:buFont typeface="Arial" panose="020B0604020202020204" pitchFamily="34" charset="0"/>
            </a:pPr>
            <a:r>
              <a:rPr lang="en-IN" altLang="zh-CN" sz="2800" b="1" dirty="0">
                <a:solidFill>
                  <a:srgbClr val="404040"/>
                </a:solidFill>
                <a:ea typeface="Calibri" panose="020F0502020204030204" pitchFamily="34" charset="0"/>
              </a:rPr>
              <a:t>Requirements and Algorithms</a:t>
            </a:r>
            <a:endParaRPr lang="en-IN" altLang="zh-CN" sz="2800" b="1" dirty="0">
              <a:solidFill>
                <a:srgbClr val="404040"/>
              </a:solidFill>
              <a:ea typeface="Calibri" panose="020F0502020204030204" pitchFamily="34" charset="0"/>
            </a:endParaRPr>
          </a:p>
        </p:txBody>
      </p:sp>
      <p:sp>
        <p:nvSpPr>
          <p:cNvPr id="12" name="直接连接符 24"/>
          <p:cNvSpPr>
            <a:spLocks noChangeShapeType="1"/>
          </p:cNvSpPr>
          <p:nvPr/>
        </p:nvSpPr>
        <p:spPr bwMode="auto">
          <a:xfrm flipH="1">
            <a:off x="3195003" y="3726180"/>
            <a:ext cx="1049338"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C00000"/>
              </a:solidFill>
              <a:effectLst/>
              <a:uLnTx/>
              <a:uFillTx/>
              <a:latin typeface="Arial" panose="020B0604020202020204" pitchFamily="34" charset="0"/>
              <a:ea typeface="Calibri" panose="020F0502020204030204" pitchFamily="34" charset="0"/>
              <a:cs typeface="+mn-ea"/>
              <a:sym typeface="Arial" panose="020B0604020202020204" pitchFamily="34" charset="0"/>
            </a:endParaRPr>
          </a:p>
        </p:txBody>
      </p:sp>
      <p:sp>
        <p:nvSpPr>
          <p:cNvPr id="28684" name="TextBox 13"/>
          <p:cNvSpPr txBox="1"/>
          <p:nvPr/>
        </p:nvSpPr>
        <p:spPr>
          <a:xfrm>
            <a:off x="770255" y="3307715"/>
            <a:ext cx="2200910" cy="835660"/>
          </a:xfrm>
          <a:prstGeom prst="rect">
            <a:avLst/>
          </a:prstGeom>
          <a:noFill/>
          <a:ln w="9525">
            <a:noFill/>
          </a:ln>
        </p:spPr>
        <p:txBody>
          <a:bodyPr wrap="square" lIns="0" tIns="0" rIns="0" bIns="0" anchor="t">
            <a:spAutoFit/>
          </a:bodyPr>
          <a:p>
            <a:pPr algn="r" defTabSz="1216025">
              <a:spcBef>
                <a:spcPct val="20000"/>
              </a:spcBef>
              <a:buFont typeface="Arial" panose="020B0604020202020204" pitchFamily="34" charset="0"/>
            </a:pPr>
            <a:r>
              <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rPr>
              <a:t>Naive Bayes Classifier</a:t>
            </a:r>
            <a:endPar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endParaRPr>
          </a:p>
          <a:p>
            <a:pPr algn="r" defTabSz="1216025">
              <a:spcBef>
                <a:spcPct val="20000"/>
              </a:spcBef>
              <a:buFont typeface="Arial" panose="020B0604020202020204" pitchFamily="34" charset="0"/>
            </a:pPr>
            <a:r>
              <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rPr>
              <a:t>Algorithm</a:t>
            </a:r>
            <a:endPar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endParaRPr>
          </a:p>
          <a:p>
            <a:pPr algn="r" defTabSz="1216025">
              <a:spcBef>
                <a:spcPct val="20000"/>
              </a:spcBef>
              <a:buFont typeface="Arial" panose="020B0604020202020204" pitchFamily="34" charset="0"/>
            </a:pPr>
            <a:endPar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endParaRPr>
          </a:p>
        </p:txBody>
      </p:sp>
      <p:sp>
        <p:nvSpPr>
          <p:cNvPr id="28686" name="TextBox 13"/>
          <p:cNvSpPr txBox="1"/>
          <p:nvPr/>
        </p:nvSpPr>
        <p:spPr>
          <a:xfrm>
            <a:off x="7680008" y="1995488"/>
            <a:ext cx="1257300" cy="245745"/>
          </a:xfrm>
          <a:prstGeom prst="rect">
            <a:avLst/>
          </a:prstGeom>
          <a:noFill/>
          <a:ln w="9525">
            <a:noFill/>
          </a:ln>
        </p:spPr>
        <p:txBody>
          <a:bodyPr lIns="0" tIns="0" rIns="0" bIns="0" anchor="t">
            <a:spAutoFit/>
          </a:bodyPr>
          <a:p>
            <a:pPr defTabSz="1216025">
              <a:spcBef>
                <a:spcPct val="20000"/>
              </a:spcBef>
              <a:buFont typeface="Arial" panose="020B0604020202020204" pitchFamily="34" charset="0"/>
            </a:pPr>
            <a:r>
              <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rPr>
              <a:t>Python</a:t>
            </a:r>
            <a:endPar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endParaRPr>
          </a:p>
        </p:txBody>
      </p:sp>
      <p:sp>
        <p:nvSpPr>
          <p:cNvPr id="28688" name="TextBox 13"/>
          <p:cNvSpPr txBox="1"/>
          <p:nvPr/>
        </p:nvSpPr>
        <p:spPr>
          <a:xfrm>
            <a:off x="1817688" y="5097463"/>
            <a:ext cx="1952625" cy="245745"/>
          </a:xfrm>
          <a:prstGeom prst="rect">
            <a:avLst/>
          </a:prstGeom>
          <a:noFill/>
          <a:ln w="9525">
            <a:noFill/>
          </a:ln>
        </p:spPr>
        <p:txBody>
          <a:bodyPr lIns="0" tIns="0" rIns="0" bIns="0" anchor="t">
            <a:spAutoFit/>
          </a:bodyPr>
          <a:p>
            <a:pPr algn="r" defTabSz="1216025">
              <a:spcBef>
                <a:spcPct val="20000"/>
              </a:spcBef>
              <a:buFont typeface="Arial" panose="020B0604020202020204" pitchFamily="34" charset="0"/>
            </a:pPr>
            <a:r>
              <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rPr>
              <a:t>Numpy and Pandas</a:t>
            </a:r>
            <a:endPar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endParaRPr>
          </a:p>
        </p:txBody>
      </p:sp>
      <p:sp>
        <p:nvSpPr>
          <p:cNvPr id="28690" name="TextBox 13"/>
          <p:cNvSpPr txBox="1"/>
          <p:nvPr/>
        </p:nvSpPr>
        <p:spPr>
          <a:xfrm>
            <a:off x="8599488" y="4241800"/>
            <a:ext cx="1952625" cy="245745"/>
          </a:xfrm>
          <a:prstGeom prst="rect">
            <a:avLst/>
          </a:prstGeom>
          <a:noFill/>
          <a:ln w="9525">
            <a:noFill/>
          </a:ln>
        </p:spPr>
        <p:txBody>
          <a:bodyPr lIns="0" tIns="0" rIns="0" bIns="0" anchor="t">
            <a:spAutoFit/>
          </a:bodyPr>
          <a:p>
            <a:pPr defTabSz="1216025">
              <a:spcBef>
                <a:spcPct val="20000"/>
              </a:spcBef>
              <a:buFont typeface="Arial" panose="020B0604020202020204" pitchFamily="34" charset="0"/>
            </a:pPr>
            <a:r>
              <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rPr>
              <a:t>Sklearn</a:t>
            </a:r>
            <a:endPar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endParaRPr>
          </a:p>
        </p:txBody>
      </p:sp>
      <p:grpSp>
        <p:nvGrpSpPr>
          <p:cNvPr id="28692" name="组合 12"/>
          <p:cNvGrpSpPr/>
          <p:nvPr/>
        </p:nvGrpSpPr>
        <p:grpSpPr>
          <a:xfrm>
            <a:off x="3983038" y="2116135"/>
            <a:ext cx="4422775" cy="3427413"/>
            <a:chOff x="3982894" y="2116757"/>
            <a:chExt cx="4422378" cy="3426925"/>
          </a:xfrm>
        </p:grpSpPr>
        <p:sp>
          <p:nvSpPr>
            <p:cNvPr id="30" name="新月形 29"/>
            <p:cNvSpPr>
              <a:spLocks noChangeArrowheads="1"/>
            </p:cNvSpPr>
            <p:nvPr/>
          </p:nvSpPr>
          <p:spPr bwMode="auto">
            <a:xfrm rot="20751297">
              <a:off x="4135280" y="2356438"/>
              <a:ext cx="1588944" cy="3177722"/>
            </a:xfrm>
            <a:prstGeom prst="moon">
              <a:avLst>
                <a:gd name="adj" fmla="val 15190"/>
              </a:avLst>
            </a:prstGeom>
            <a:solidFill>
              <a:srgbClr val="6A6A6A"/>
            </a:solidFill>
            <a:ln w="3175" cmpd="sng">
              <a:solidFill>
                <a:srgbClr val="F8F8F8"/>
              </a:solidFill>
              <a:miter lim="800000"/>
            </a:ln>
          </p:spPr>
          <p:txBody>
            <a:bodyPr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800" b="0" i="0" u="none" strike="noStrike" kern="0" cap="none" spc="0" normalizeH="0" baseline="0" noProof="0" smtClean="0">
                <a:ln>
                  <a:noFill/>
                </a:ln>
                <a:solidFill>
                  <a:srgbClr val="FFFFFF"/>
                </a:solidFill>
                <a:effectLst/>
                <a:uLnTx/>
                <a:uFillTx/>
                <a:latin typeface="Arial" panose="020B0604020202020204" pitchFamily="34" charset="0"/>
                <a:ea typeface="Calibri" panose="020F0502020204030204" pitchFamily="34" charset="0"/>
                <a:cs typeface="+mn-ea"/>
                <a:sym typeface="Arial" panose="020B0604020202020204" pitchFamily="34" charset="0"/>
              </a:endParaRPr>
            </a:p>
          </p:txBody>
        </p:sp>
        <p:sp>
          <p:nvSpPr>
            <p:cNvPr id="31" name="新月形 30"/>
            <p:cNvSpPr>
              <a:spLocks noChangeArrowheads="1"/>
            </p:cNvSpPr>
            <p:nvPr/>
          </p:nvSpPr>
          <p:spPr bwMode="auto">
            <a:xfrm rot="4551297">
              <a:off x="4949633" y="1323036"/>
              <a:ext cx="1588861" cy="3176303"/>
            </a:xfrm>
            <a:prstGeom prst="moon">
              <a:avLst>
                <a:gd name="adj" fmla="val 15190"/>
              </a:avLst>
            </a:prstGeom>
            <a:noFill/>
            <a:ln w="3175" cmpd="sng">
              <a:solidFill>
                <a:srgbClr val="404040"/>
              </a:solidFill>
              <a:miter lim="800000"/>
            </a:ln>
          </p:spPr>
          <p:txBody>
            <a:bodyPr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800" b="0" i="0" u="none" strike="noStrike" kern="0" cap="none" spc="0" normalizeH="0" baseline="0" noProof="0" smtClean="0">
                <a:ln>
                  <a:noFill/>
                </a:ln>
                <a:solidFill>
                  <a:srgbClr val="FFFFFF"/>
                </a:solidFill>
                <a:effectLst/>
                <a:uLnTx/>
                <a:uFillTx/>
                <a:latin typeface="Arial" panose="020B0604020202020204" pitchFamily="34" charset="0"/>
                <a:ea typeface="Calibri" panose="020F0502020204030204" pitchFamily="34" charset="0"/>
                <a:cs typeface="+mn-ea"/>
                <a:sym typeface="Arial" panose="020B0604020202020204" pitchFamily="34" charset="0"/>
              </a:endParaRPr>
            </a:p>
          </p:txBody>
        </p:sp>
        <p:sp>
          <p:nvSpPr>
            <p:cNvPr id="32" name="新月形 31"/>
            <p:cNvSpPr>
              <a:spLocks noChangeArrowheads="1"/>
            </p:cNvSpPr>
            <p:nvPr/>
          </p:nvSpPr>
          <p:spPr bwMode="auto">
            <a:xfrm rot="9951297">
              <a:off x="5984551" y="2137394"/>
              <a:ext cx="1590532" cy="3177722"/>
            </a:xfrm>
            <a:prstGeom prst="moon">
              <a:avLst>
                <a:gd name="adj" fmla="val 15190"/>
              </a:avLst>
            </a:prstGeom>
            <a:solidFill>
              <a:srgbClr val="6A6A6A"/>
            </a:solidFill>
            <a:ln w="3175" cmpd="sng">
              <a:solidFill>
                <a:srgbClr val="F8F8F8"/>
              </a:solidFill>
              <a:miter lim="800000"/>
            </a:ln>
          </p:spPr>
          <p:txBody>
            <a:bodyPr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800" b="0" i="0" u="none" strike="noStrike" kern="0" cap="none" spc="0" normalizeH="0" baseline="0" noProof="0" smtClean="0">
                <a:ln>
                  <a:noFill/>
                </a:ln>
                <a:solidFill>
                  <a:srgbClr val="FFFFFF"/>
                </a:solidFill>
                <a:effectLst/>
                <a:uLnTx/>
                <a:uFillTx/>
                <a:latin typeface="Arial" panose="020B0604020202020204" pitchFamily="34" charset="0"/>
                <a:ea typeface="Calibri" panose="020F0502020204030204" pitchFamily="34" charset="0"/>
                <a:cs typeface="+mn-ea"/>
                <a:sym typeface="Arial" panose="020B0604020202020204" pitchFamily="34" charset="0"/>
              </a:endParaRPr>
            </a:p>
          </p:txBody>
        </p:sp>
        <p:sp>
          <p:nvSpPr>
            <p:cNvPr id="33" name="新月形 32"/>
            <p:cNvSpPr>
              <a:spLocks noChangeArrowheads="1"/>
            </p:cNvSpPr>
            <p:nvPr/>
          </p:nvSpPr>
          <p:spPr bwMode="auto">
            <a:xfrm rot="15351297">
              <a:off x="5185357" y="3160306"/>
              <a:ext cx="1588861" cy="3177890"/>
            </a:xfrm>
            <a:prstGeom prst="moon">
              <a:avLst>
                <a:gd name="adj" fmla="val 15190"/>
              </a:avLst>
            </a:prstGeom>
            <a:noFill/>
            <a:ln w="3175" cmpd="sng">
              <a:solidFill>
                <a:srgbClr val="404040"/>
              </a:solidFill>
              <a:miter lim="800000"/>
            </a:ln>
          </p:spPr>
          <p:txBody>
            <a:bodyPr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800" b="0" i="0" u="none" strike="noStrike" kern="0" cap="none" spc="0" normalizeH="0" baseline="0" noProof="0" smtClean="0">
                <a:ln>
                  <a:noFill/>
                </a:ln>
                <a:solidFill>
                  <a:srgbClr val="FFFFFF"/>
                </a:solidFill>
                <a:effectLst/>
                <a:uLnTx/>
                <a:uFillTx/>
                <a:latin typeface="Arial" panose="020B0604020202020204" pitchFamily="34" charset="0"/>
                <a:ea typeface="Calibri" panose="020F0502020204030204" pitchFamily="34" charset="0"/>
                <a:cs typeface="+mn-ea"/>
                <a:sym typeface="Arial" panose="020B0604020202020204" pitchFamily="34" charset="0"/>
              </a:endParaRPr>
            </a:p>
          </p:txBody>
        </p:sp>
        <p:sp>
          <p:nvSpPr>
            <p:cNvPr id="28697" name="TextBox 11"/>
            <p:cNvSpPr/>
            <p:nvPr/>
          </p:nvSpPr>
          <p:spPr>
            <a:xfrm flipH="1">
              <a:off x="4848003" y="3532608"/>
              <a:ext cx="2111185" cy="460309"/>
            </a:xfrm>
            <a:prstGeom prst="rect">
              <a:avLst/>
            </a:prstGeom>
            <a:noFill/>
            <a:ln w="9525">
              <a:noFill/>
            </a:ln>
          </p:spPr>
          <p:txBody>
            <a:bodyPr anchor="t">
              <a:spAutoFit/>
            </a:bodyPr>
            <a:p>
              <a:pPr algn="ctr">
                <a:buFont typeface="Arial" panose="020B0604020202020204" pitchFamily="34" charset="0"/>
              </a:pPr>
              <a:r>
                <a:rPr lang="en-IN" altLang="en-US" sz="2400" b="1" dirty="0">
                  <a:solidFill>
                    <a:srgbClr val="445469"/>
                  </a:solidFill>
                  <a:latin typeface="Arial" panose="020B0604020202020204" pitchFamily="34" charset="0"/>
                  <a:ea typeface="Calibri" panose="020F0502020204030204" pitchFamily="34" charset="0"/>
                  <a:sym typeface="Arial" panose="020B0604020202020204" pitchFamily="34" charset="0"/>
                </a:rPr>
                <a:t>Fake news</a:t>
              </a:r>
              <a:endParaRPr lang="en-IN" altLang="en-US" sz="2400" b="1" dirty="0">
                <a:solidFill>
                  <a:srgbClr val="445469"/>
                </a:solidFill>
                <a:latin typeface="Arial" panose="020B0604020202020204" pitchFamily="34" charset="0"/>
                <a:ea typeface="Calibri" panose="020F0502020204030204" pitchFamily="34" charset="0"/>
                <a:sym typeface="Arial" panose="020B0604020202020204" pitchFamily="34" charset="0"/>
              </a:endParaRPr>
            </a:p>
          </p:txBody>
        </p:sp>
        <p:sp>
          <p:nvSpPr>
            <p:cNvPr id="35" name="直接连接符 24"/>
            <p:cNvSpPr>
              <a:spLocks noChangeShapeType="1"/>
            </p:cNvSpPr>
            <p:nvPr/>
          </p:nvSpPr>
          <p:spPr bwMode="auto">
            <a:xfrm flipH="1">
              <a:off x="3982894" y="5343687"/>
              <a:ext cx="1033369"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C00000"/>
                </a:solidFill>
                <a:effectLst/>
                <a:uLnTx/>
                <a:uFillTx/>
                <a:latin typeface="Arial" panose="020B0604020202020204" pitchFamily="34" charset="0"/>
                <a:ea typeface="Calibri" panose="020F0502020204030204" pitchFamily="34" charset="0"/>
                <a:cs typeface="+mn-ea"/>
                <a:sym typeface="Arial" panose="020B0604020202020204" pitchFamily="34" charset="0"/>
              </a:endParaRPr>
            </a:p>
          </p:txBody>
        </p:sp>
        <p:sp>
          <p:nvSpPr>
            <p:cNvPr id="36" name="直接连接符 24"/>
            <p:cNvSpPr>
              <a:spLocks noChangeShapeType="1"/>
            </p:cNvSpPr>
            <p:nvPr/>
          </p:nvSpPr>
          <p:spPr bwMode="auto">
            <a:xfrm flipH="1">
              <a:off x="6427425" y="2240567"/>
              <a:ext cx="1050831"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C00000"/>
                </a:solidFill>
                <a:effectLst/>
                <a:uLnTx/>
                <a:uFillTx/>
                <a:latin typeface="Arial" panose="020B0604020202020204" pitchFamily="34" charset="0"/>
                <a:ea typeface="Calibri" panose="020F0502020204030204" pitchFamily="34" charset="0"/>
                <a:cs typeface="+mn-ea"/>
                <a:sym typeface="Arial" panose="020B0604020202020204" pitchFamily="34" charset="0"/>
              </a:endParaRPr>
            </a:p>
          </p:txBody>
        </p:sp>
        <p:sp>
          <p:nvSpPr>
            <p:cNvPr id="37" name="直接连接符 36"/>
            <p:cNvSpPr>
              <a:spLocks noChangeShapeType="1"/>
            </p:cNvSpPr>
            <p:nvPr/>
          </p:nvSpPr>
          <p:spPr bwMode="auto">
            <a:xfrm flipH="1">
              <a:off x="7371902" y="4559574"/>
              <a:ext cx="1033370"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C00000"/>
                </a:solidFill>
                <a:effectLst/>
                <a:uLnTx/>
                <a:uFillTx/>
                <a:latin typeface="Arial" panose="020B0604020202020204" pitchFamily="34" charset="0"/>
                <a:ea typeface="Calibri" panose="020F0502020204030204" pitchFamily="34" charset="0"/>
                <a:cs typeface="+mn-ea"/>
                <a:sym typeface="Arial" panose="020B0604020202020204" pitchFamily="34" charset="0"/>
              </a:endParaRPr>
            </a:p>
          </p:txBody>
        </p:sp>
      </p:grpSp>
      <p:sp>
        <p:nvSpPr>
          <p:cNvPr id="2" name="直接连接符 24"/>
          <p:cNvSpPr>
            <a:spLocks noChangeShapeType="1"/>
          </p:cNvSpPr>
          <p:nvPr/>
        </p:nvSpPr>
        <p:spPr bwMode="auto">
          <a:xfrm rot="10560000" flipH="1" flipV="1">
            <a:off x="4013200" y="2313940"/>
            <a:ext cx="1033145" cy="130175"/>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C00000"/>
              </a:solidFill>
              <a:effectLst/>
              <a:uLnTx/>
              <a:uFillTx/>
              <a:latin typeface="Arial" panose="020B0604020202020204" pitchFamily="34" charset="0"/>
              <a:ea typeface="Calibri" panose="020F0502020204030204" pitchFamily="34" charset="0"/>
              <a:cs typeface="+mn-ea"/>
              <a:sym typeface="Arial" panose="020B0604020202020204" pitchFamily="34" charset="0"/>
            </a:endParaRPr>
          </a:p>
        </p:txBody>
      </p:sp>
      <p:sp>
        <p:nvSpPr>
          <p:cNvPr id="3" name="TextBox 13"/>
          <p:cNvSpPr txBox="1"/>
          <p:nvPr/>
        </p:nvSpPr>
        <p:spPr>
          <a:xfrm>
            <a:off x="1693545" y="1990725"/>
            <a:ext cx="2200910" cy="245745"/>
          </a:xfrm>
          <a:prstGeom prst="rect">
            <a:avLst/>
          </a:prstGeom>
          <a:noFill/>
          <a:ln w="9525">
            <a:noFill/>
          </a:ln>
        </p:spPr>
        <p:txBody>
          <a:bodyPr wrap="square" lIns="0" tIns="0" rIns="0" bIns="0" anchor="t">
            <a:spAutoFit/>
          </a:bodyPr>
          <a:p>
            <a:pPr algn="r" defTabSz="1216025">
              <a:spcBef>
                <a:spcPct val="20000"/>
              </a:spcBef>
              <a:buFont typeface="Arial" panose="020B0604020202020204" pitchFamily="34" charset="0"/>
            </a:pPr>
            <a:r>
              <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rPr>
              <a:t>LIAR Dataset</a:t>
            </a:r>
            <a:endParaRPr lang="en-IN" altLang="en-US" sz="1600" b="1" dirty="0">
              <a:solidFill>
                <a:srgbClr val="445469"/>
              </a:solidFill>
              <a:latin typeface="Arial" panose="020B0604020202020204" pitchFamily="34" charset="0"/>
              <a:ea typeface="Calibri" panose="020F0502020204030204" pitchFamily="34" charset="0"/>
              <a:sym typeface="Arial" panose="020B0604020202020204" pitchFamily="34" charset="0"/>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49" name="图片 3"/>
          <p:cNvPicPr>
            <a:picLocks noChangeAspect="1"/>
          </p:cNvPicPr>
          <p:nvPr/>
        </p:nvPicPr>
        <p:blipFill>
          <a:blip r:embed="rId1"/>
          <a:srcRect l="5727" r="16841" b="26530"/>
          <a:stretch>
            <a:fillRect/>
          </a:stretch>
        </p:blipFill>
        <p:spPr>
          <a:xfrm>
            <a:off x="0" y="-13970"/>
            <a:ext cx="12192000" cy="6858000"/>
          </a:xfrm>
          <a:prstGeom prst="rect">
            <a:avLst/>
          </a:prstGeom>
          <a:noFill/>
          <a:ln w="9525">
            <a:noFill/>
          </a:ln>
        </p:spPr>
      </p:pic>
      <p:sp>
        <p:nvSpPr>
          <p:cNvPr id="27663" name="矩形 33"/>
          <p:cNvSpPr/>
          <p:nvPr/>
        </p:nvSpPr>
        <p:spPr>
          <a:xfrm>
            <a:off x="1002030" y="1467485"/>
            <a:ext cx="7763510" cy="1181735"/>
          </a:xfrm>
          <a:prstGeom prst="rect">
            <a:avLst/>
          </a:prstGeom>
          <a:noFill/>
          <a:ln w="9525">
            <a:noFill/>
          </a:ln>
        </p:spPr>
        <p:txBody>
          <a:bodyPr wrap="square" lIns="0" tIns="0" rIns="0" bIns="0" anchor="t">
            <a:spAutoFit/>
          </a:bodyPr>
          <a:p>
            <a:pPr marL="285750" indent="-285750" algn="l" defTabSz="1216025">
              <a:spcBef>
                <a:spcPct val="20000"/>
              </a:spcBef>
              <a:buFont typeface="Wingdings" panose="05000000000000000000" charset="0"/>
              <a:buChar char="Ø"/>
            </a:pPr>
            <a:r>
              <a:rPr lang="en-IN" altLang="en-US" sz="2400" dirty="0">
                <a:solidFill>
                  <a:srgbClr val="404040"/>
                </a:solidFill>
                <a:ea typeface="Calibri" panose="020F0502020204030204" pitchFamily="34" charset="0"/>
                <a:sym typeface="Arial" panose="020B0604020202020204" pitchFamily="34" charset="0"/>
              </a:rPr>
              <a:t>By using the above mentioned requirements and Algorithms we classify the given data set to get the desired output.</a:t>
            </a:r>
            <a:endParaRPr lang="en-IN" altLang="en-US" sz="2400" dirty="0">
              <a:solidFill>
                <a:srgbClr val="404040"/>
              </a:solidFill>
              <a:ea typeface="Calibri" panose="020F0502020204030204" pitchFamily="34" charset="0"/>
              <a:sym typeface="Arial" panose="020B0604020202020204" pitchFamily="34" charset="0"/>
            </a:endParaRPr>
          </a:p>
          <a:p>
            <a:pPr algn="l" defTabSz="1216025">
              <a:spcBef>
                <a:spcPct val="20000"/>
              </a:spcBef>
              <a:buFont typeface="Wingdings" panose="05000000000000000000" charset="0"/>
            </a:pPr>
            <a:endParaRPr lang="en-IN" altLang="en-US" sz="2400" dirty="0">
              <a:solidFill>
                <a:srgbClr val="404040"/>
              </a:solidFill>
              <a:ea typeface="Calibri" panose="020F0502020204030204" pitchFamily="34" charset="0"/>
              <a:sym typeface="Arial" panose="020B0604020202020204" pitchFamily="34" charset="0"/>
            </a:endParaRPr>
          </a:p>
        </p:txBody>
      </p:sp>
      <p:sp>
        <p:nvSpPr>
          <p:cNvPr id="21" name="文本框 36"/>
          <p:cNvSpPr txBox="1"/>
          <p:nvPr/>
        </p:nvSpPr>
        <p:spPr>
          <a:xfrm>
            <a:off x="138113" y="3512820"/>
            <a:ext cx="3743325" cy="2430145"/>
          </a:xfrm>
          <a:prstGeom prst="rect">
            <a:avLst/>
          </a:prstGeom>
          <a:noFill/>
          <a:ln w="9525">
            <a:noFill/>
          </a:ln>
        </p:spPr>
        <p:txBody>
          <a:bodyPr anchor="t">
            <a:spAutoFit/>
          </a:bodyPr>
          <a:p>
            <a:pPr>
              <a:buFont typeface="Arial" panose="020B0604020202020204" pitchFamily="34" charset="0"/>
            </a:pPr>
            <a:r>
              <a:rPr lang="en-IN" altLang="zh-CN" sz="2800" b="1" dirty="0">
                <a:solidFill>
                  <a:srgbClr val="404040"/>
                </a:solidFill>
                <a:ea typeface="Calibri" panose="020F0502020204030204" pitchFamily="34" charset="0"/>
              </a:rPr>
              <a:t>Project guide</a:t>
            </a:r>
            <a:r>
              <a:rPr lang="en-IN" altLang="zh-CN" sz="3200" b="1" dirty="0">
                <a:solidFill>
                  <a:srgbClr val="404040"/>
                </a:solidFill>
                <a:ea typeface="Calibri" panose="020F0502020204030204" pitchFamily="34" charset="0"/>
              </a:rPr>
              <a:t>:</a:t>
            </a:r>
            <a:endParaRPr lang="en-IN" altLang="zh-CN" sz="3200" b="1" dirty="0">
              <a:solidFill>
                <a:srgbClr val="404040"/>
              </a:solidFill>
              <a:ea typeface="Calibri" panose="020F0502020204030204" pitchFamily="34" charset="0"/>
            </a:endParaRPr>
          </a:p>
          <a:p>
            <a:pPr>
              <a:buFont typeface="Arial" panose="020B0604020202020204" pitchFamily="34" charset="0"/>
            </a:pPr>
            <a:r>
              <a:rPr lang="en-IN" altLang="zh-CN" sz="2000" dirty="0">
                <a:solidFill>
                  <a:srgbClr val="404040"/>
                </a:solidFill>
                <a:ea typeface="Calibri" panose="020F0502020204030204" pitchFamily="34" charset="0"/>
              </a:rPr>
              <a:t>Mr.S.V.V.D.Jagadeesh</a:t>
            </a:r>
            <a:endParaRPr lang="en-IN" altLang="zh-CN" sz="2000" dirty="0">
              <a:solidFill>
                <a:srgbClr val="404040"/>
              </a:solidFill>
              <a:ea typeface="Calibri" panose="020F0502020204030204" pitchFamily="34" charset="0"/>
            </a:endParaRPr>
          </a:p>
          <a:p>
            <a:pPr>
              <a:buFont typeface="Arial" panose="020B0604020202020204" pitchFamily="34" charset="0"/>
            </a:pPr>
            <a:r>
              <a:rPr lang="en-IN" altLang="zh-CN" sz="2000" dirty="0">
                <a:solidFill>
                  <a:srgbClr val="404040"/>
                </a:solidFill>
                <a:ea typeface="Calibri" panose="020F0502020204030204" pitchFamily="34" charset="0"/>
              </a:rPr>
              <a:t>Assistant prof.</a:t>
            </a:r>
            <a:endParaRPr lang="en-IN" altLang="zh-CN" sz="2000" dirty="0">
              <a:solidFill>
                <a:srgbClr val="404040"/>
              </a:solidFill>
              <a:ea typeface="Calibri" panose="020F0502020204030204" pitchFamily="34" charset="0"/>
            </a:endParaRPr>
          </a:p>
          <a:p>
            <a:pPr>
              <a:buFont typeface="Arial" panose="020B0604020202020204" pitchFamily="34" charset="0"/>
            </a:pPr>
            <a:r>
              <a:rPr lang="en-IN" altLang="zh-CN" sz="2000" dirty="0">
                <a:solidFill>
                  <a:srgbClr val="404040"/>
                </a:solidFill>
                <a:ea typeface="Calibri" panose="020F0502020204030204" pitchFamily="34" charset="0"/>
              </a:rPr>
              <a:t>Department of IT</a:t>
            </a:r>
            <a:endParaRPr lang="en-IN" altLang="zh-CN" sz="2000" dirty="0">
              <a:solidFill>
                <a:srgbClr val="404040"/>
              </a:solidFill>
              <a:ea typeface="Calibri" panose="020F0502020204030204" pitchFamily="34" charset="0"/>
            </a:endParaRPr>
          </a:p>
          <a:p>
            <a:pPr>
              <a:buFont typeface="Arial" panose="020B0604020202020204" pitchFamily="34" charset="0"/>
            </a:pPr>
            <a:r>
              <a:rPr lang="en-IN" altLang="zh-CN" sz="2000" dirty="0">
                <a:solidFill>
                  <a:srgbClr val="404040"/>
                </a:solidFill>
                <a:ea typeface="Calibri" panose="020F0502020204030204" pitchFamily="34" charset="0"/>
              </a:rPr>
              <a:t>Aditya Engineering College</a:t>
            </a:r>
            <a:endParaRPr lang="en-IN" altLang="zh-CN" sz="2000" dirty="0">
              <a:solidFill>
                <a:srgbClr val="404040"/>
              </a:solidFill>
              <a:ea typeface="Calibri" panose="020F0502020204030204" pitchFamily="34" charset="0"/>
            </a:endParaRPr>
          </a:p>
          <a:p>
            <a:pPr>
              <a:buFont typeface="Arial" panose="020B0604020202020204" pitchFamily="34" charset="0"/>
            </a:pPr>
            <a:r>
              <a:rPr lang="en-IN" altLang="zh-CN" sz="2000" dirty="0">
                <a:solidFill>
                  <a:srgbClr val="404040"/>
                </a:solidFill>
                <a:ea typeface="Calibri" panose="020F0502020204030204" pitchFamily="34" charset="0"/>
              </a:rPr>
              <a:t>Surampalem.</a:t>
            </a:r>
            <a:endParaRPr lang="en-IN" altLang="zh-CN" sz="2000" dirty="0">
              <a:solidFill>
                <a:srgbClr val="404040"/>
              </a:solidFill>
              <a:ea typeface="Calibri" panose="020F0502020204030204" pitchFamily="34" charset="0"/>
            </a:endParaRPr>
          </a:p>
          <a:p>
            <a:pPr>
              <a:buFont typeface="Arial" panose="020B0604020202020204" pitchFamily="34" charset="0"/>
            </a:pPr>
            <a:endParaRPr lang="en-IN" altLang="zh-CN" sz="2000" dirty="0">
              <a:solidFill>
                <a:srgbClr val="404040"/>
              </a:solidFill>
              <a:ea typeface="Calibri" panose="020F0502020204030204" pitchFamily="34" charset="0"/>
            </a:endParaRPr>
          </a:p>
        </p:txBody>
      </p:sp>
      <p:sp>
        <p:nvSpPr>
          <p:cNvPr id="22" name="文本框 36"/>
          <p:cNvSpPr txBox="1"/>
          <p:nvPr/>
        </p:nvSpPr>
        <p:spPr>
          <a:xfrm>
            <a:off x="1408113" y="575310"/>
            <a:ext cx="3743325" cy="583565"/>
          </a:xfrm>
          <a:prstGeom prst="rect">
            <a:avLst/>
          </a:prstGeom>
          <a:noFill/>
          <a:ln w="9525">
            <a:noFill/>
          </a:ln>
        </p:spPr>
        <p:txBody>
          <a:bodyPr anchor="t">
            <a:spAutoFit/>
          </a:bodyPr>
          <a:p>
            <a:pPr>
              <a:buFont typeface="Arial" panose="020B0604020202020204" pitchFamily="34" charset="0"/>
            </a:pPr>
            <a:r>
              <a:rPr lang="en-IN" altLang="zh-CN" sz="3200" b="1" dirty="0">
                <a:solidFill>
                  <a:srgbClr val="404040"/>
                </a:solidFill>
                <a:ea typeface="Calibri" panose="020F0502020204030204" pitchFamily="34" charset="0"/>
              </a:rPr>
              <a:t>Conclusion</a:t>
            </a:r>
            <a:endParaRPr lang="en-IN" altLang="zh-CN" sz="3200" b="1" dirty="0">
              <a:solidFill>
                <a:srgbClr val="404040"/>
              </a:solidFill>
              <a:ea typeface="Calibri" panose="020F0502020204030204" pitchFamily="34" charset="0"/>
            </a:endParaRPr>
          </a:p>
        </p:txBody>
      </p:sp>
      <p:sp>
        <p:nvSpPr>
          <p:cNvPr id="24" name="文本框 36"/>
          <p:cNvSpPr txBox="1"/>
          <p:nvPr/>
        </p:nvSpPr>
        <p:spPr>
          <a:xfrm>
            <a:off x="6213475" y="3600450"/>
            <a:ext cx="4541520" cy="2491740"/>
          </a:xfrm>
          <a:prstGeom prst="rect">
            <a:avLst/>
          </a:prstGeom>
          <a:noFill/>
          <a:ln w="9525">
            <a:noFill/>
          </a:ln>
        </p:spPr>
        <p:txBody>
          <a:bodyPr wrap="square" anchor="t">
            <a:spAutoFit/>
          </a:bodyPr>
          <a:p>
            <a:pPr>
              <a:buFont typeface="Arial" panose="020B0604020202020204" pitchFamily="34" charset="0"/>
            </a:pPr>
            <a:r>
              <a:rPr lang="en-IN" altLang="zh-CN" sz="2800" b="1" dirty="0">
                <a:solidFill>
                  <a:srgbClr val="404040"/>
                </a:solidFill>
                <a:ea typeface="Calibri" panose="020F0502020204030204" pitchFamily="34" charset="0"/>
              </a:rPr>
              <a:t>Project Associates:</a:t>
            </a:r>
            <a:endParaRPr lang="en-IN" altLang="zh-CN" sz="2800" b="1" dirty="0">
              <a:solidFill>
                <a:srgbClr val="404040"/>
              </a:solidFill>
              <a:ea typeface="Calibri" panose="020F0502020204030204" pitchFamily="34" charset="0"/>
            </a:endParaRPr>
          </a:p>
          <a:p>
            <a:pPr algn="l" defTabSz="914400"/>
            <a:r>
              <a:rPr lang="en-IN" altLang="en-US" sz="1800" dirty="0">
                <a:solidFill>
                  <a:srgbClr val="404040"/>
                </a:solidFill>
                <a:ea typeface="Calibri" panose="020F0502020204030204" pitchFamily="34" charset="0"/>
                <a:sym typeface="Arial" panose="020B0604020202020204" pitchFamily="34" charset="0"/>
              </a:rPr>
              <a:t>Ch.Sri Bala Vidyadhari -17A91A1210</a:t>
            </a:r>
            <a:endParaRPr lang="en-IN" altLang="en-US" sz="1800" dirty="0">
              <a:solidFill>
                <a:srgbClr val="404040"/>
              </a:solidFill>
              <a:ea typeface="Calibri" panose="020F0502020204030204" pitchFamily="34" charset="0"/>
              <a:sym typeface="Arial" panose="020B0604020202020204" pitchFamily="34" charset="0"/>
            </a:endParaRPr>
          </a:p>
          <a:p>
            <a:pPr algn="l" defTabSz="914400"/>
            <a:r>
              <a:rPr lang="en-IN" altLang="en-US" sz="1800" dirty="0">
                <a:solidFill>
                  <a:srgbClr val="404040"/>
                </a:solidFill>
                <a:ea typeface="Calibri" panose="020F0502020204030204" pitchFamily="34" charset="0"/>
                <a:sym typeface="Arial" panose="020B0604020202020204" pitchFamily="34" charset="0"/>
              </a:rPr>
              <a:t>P.Hari Priya                    -17A91A1243</a:t>
            </a:r>
            <a:endParaRPr lang="en-IN" altLang="en-US" sz="1800" dirty="0">
              <a:solidFill>
                <a:srgbClr val="404040"/>
              </a:solidFill>
              <a:ea typeface="Calibri" panose="020F0502020204030204" pitchFamily="34" charset="0"/>
              <a:sym typeface="Arial" panose="020B0604020202020204" pitchFamily="34" charset="0"/>
            </a:endParaRPr>
          </a:p>
          <a:p>
            <a:pPr algn="l" defTabSz="914400"/>
            <a:r>
              <a:rPr lang="en-IN" altLang="en-US" sz="1800" dirty="0">
                <a:solidFill>
                  <a:srgbClr val="404040"/>
                </a:solidFill>
                <a:ea typeface="Calibri" panose="020F0502020204030204" pitchFamily="34" charset="0"/>
                <a:sym typeface="Arial" panose="020B0604020202020204" pitchFamily="34" charset="0"/>
              </a:rPr>
              <a:t>M.Hari Krishna              -17A91A1231</a:t>
            </a:r>
            <a:endParaRPr lang="en-IN" altLang="en-US" sz="1800" dirty="0">
              <a:solidFill>
                <a:srgbClr val="404040"/>
              </a:solidFill>
              <a:ea typeface="Calibri" panose="020F0502020204030204" pitchFamily="34" charset="0"/>
              <a:sym typeface="Arial" panose="020B0604020202020204" pitchFamily="34" charset="0"/>
            </a:endParaRPr>
          </a:p>
          <a:p>
            <a:pPr algn="l" defTabSz="914400"/>
            <a:r>
              <a:rPr lang="en-IN" altLang="en-US" sz="1800" dirty="0">
                <a:solidFill>
                  <a:srgbClr val="404040"/>
                </a:solidFill>
                <a:ea typeface="Calibri" panose="020F0502020204030204" pitchFamily="34" charset="0"/>
                <a:sym typeface="Arial" panose="020B0604020202020204" pitchFamily="34" charset="0"/>
              </a:rPr>
              <a:t>B.Sireesha                      -17A91A1205</a:t>
            </a:r>
            <a:endParaRPr lang="en-IN" altLang="en-US" sz="1800" dirty="0">
              <a:solidFill>
                <a:srgbClr val="404040"/>
              </a:solidFill>
              <a:ea typeface="Calibri" panose="020F0502020204030204" pitchFamily="34" charset="0"/>
              <a:sym typeface="Arial" panose="020B0604020202020204" pitchFamily="34" charset="0"/>
            </a:endParaRPr>
          </a:p>
          <a:p>
            <a:pPr>
              <a:buFont typeface="Arial" panose="020B0604020202020204" pitchFamily="34" charset="0"/>
            </a:pPr>
            <a:endParaRPr lang="en-IN" altLang="zh-CN" sz="2800" b="1" dirty="0">
              <a:solidFill>
                <a:srgbClr val="404040"/>
              </a:solidFill>
              <a:ea typeface="Calibri" panose="020F0502020204030204" pitchFamily="34" charset="0"/>
            </a:endParaRPr>
          </a:p>
          <a:p>
            <a:pPr>
              <a:buFont typeface="Arial" panose="020B0604020202020204" pitchFamily="34" charset="0"/>
            </a:pPr>
            <a:endParaRPr lang="en-IN" altLang="zh-CN" sz="2800" b="1" dirty="0">
              <a:solidFill>
                <a:srgbClr val="404040"/>
              </a:solidFill>
              <a:ea typeface="Calibri" panose="020F0502020204030204" pitchFamily="34" charset="0"/>
            </a:endParaRP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29698" name="组合 4"/>
          <p:cNvGrpSpPr/>
          <p:nvPr/>
        </p:nvGrpSpPr>
        <p:grpSpPr>
          <a:xfrm>
            <a:off x="3302000" y="1849438"/>
            <a:ext cx="5588000" cy="2668587"/>
            <a:chOff x="3457574" y="1641515"/>
            <a:chExt cx="5143501" cy="2455340"/>
          </a:xfrm>
        </p:grpSpPr>
        <p:grpSp>
          <p:nvGrpSpPr>
            <p:cNvPr id="29699" name="组合 5"/>
            <p:cNvGrpSpPr/>
            <p:nvPr/>
          </p:nvGrpSpPr>
          <p:grpSpPr>
            <a:xfrm>
              <a:off x="3590925" y="1980069"/>
              <a:ext cx="5010150" cy="679906"/>
              <a:chOff x="4324350" y="2295525"/>
              <a:chExt cx="3733800" cy="679906"/>
            </a:xfrm>
          </p:grpSpPr>
          <p:cxnSp>
            <p:nvCxnSpPr>
              <p:cNvPr id="15" name="直接连接符 14"/>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29704" name="组合 6"/>
            <p:cNvGrpSpPr/>
            <p:nvPr/>
          </p:nvGrpSpPr>
          <p:grpSpPr>
            <a:xfrm flipH="1" flipV="1">
              <a:off x="3457574" y="3370824"/>
              <a:ext cx="4951785" cy="726031"/>
              <a:chOff x="4324350" y="2295525"/>
              <a:chExt cx="3733800" cy="679906"/>
            </a:xfrm>
          </p:grpSpPr>
          <p:cxnSp>
            <p:nvCxnSpPr>
              <p:cNvPr id="11" name="直接连接符 10"/>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9709" name="文本框 7"/>
            <p:cNvSpPr txBox="1"/>
            <p:nvPr/>
          </p:nvSpPr>
          <p:spPr>
            <a:xfrm>
              <a:off x="3646364" y="2020114"/>
              <a:ext cx="4761830" cy="1712458"/>
            </a:xfrm>
            <a:prstGeom prst="rect">
              <a:avLst/>
            </a:prstGeom>
            <a:noFill/>
            <a:ln w="9525">
              <a:noFill/>
            </a:ln>
          </p:spPr>
          <p:txBody>
            <a:bodyPr wrap="square" anchor="t">
              <a:spAutoFit/>
            </a:bodyPr>
            <a:p>
              <a:pPr defTabSz="914400"/>
              <a:r>
                <a:rPr lang="en-US" altLang="zh-CN" sz="11500" i="1" dirty="0">
                  <a:solidFill>
                    <a:srgbClr val="404040"/>
                  </a:solidFill>
                  <a:ea typeface="Calibri" panose="020F0502020204030204" pitchFamily="34" charset="0"/>
                </a:rPr>
                <a:t>THANKS</a:t>
              </a:r>
              <a:endParaRPr lang="en-US" altLang="zh-CN" sz="11500" i="1" dirty="0">
                <a:solidFill>
                  <a:srgbClr val="404040"/>
                </a:solidFill>
                <a:ea typeface="Calibri" panose="020F0502020204030204" pitchFamily="34" charset="0"/>
              </a:endParaRPr>
            </a:p>
          </p:txBody>
        </p:sp>
        <p:sp>
          <p:nvSpPr>
            <p:cNvPr id="29710" name="文本框 9"/>
            <p:cNvSpPr txBox="1"/>
            <p:nvPr/>
          </p:nvSpPr>
          <p:spPr>
            <a:xfrm>
              <a:off x="4495261" y="1641515"/>
              <a:ext cx="3316567" cy="338554"/>
            </a:xfrm>
            <a:prstGeom prst="rect">
              <a:avLst/>
            </a:prstGeom>
            <a:noFill/>
            <a:ln w="9525">
              <a:noFill/>
            </a:ln>
          </p:spPr>
          <p:txBody>
            <a:bodyPr wrap="square" anchor="t">
              <a:spAutoFit/>
            </a:bodyPr>
            <a:p>
              <a:pPr defTabSz="914400"/>
              <a:r>
                <a:rPr lang="en-US" altLang="zh-CN" sz="1600" dirty="0">
                  <a:solidFill>
                    <a:srgbClr val="404040"/>
                  </a:solidFill>
                  <a:ea typeface="Calibri" panose="020F0502020204030204" pitchFamily="34" charset="0"/>
                  <a:sym typeface="Arial" panose="020B0604020202020204" pitchFamily="34" charset="0"/>
                </a:rPr>
                <a:t>THE PROFESSIONAL TEMPLATE</a:t>
              </a:r>
              <a:endParaRPr lang="zh-CN" altLang="en-US" sz="1600" dirty="0">
                <a:solidFill>
                  <a:srgbClr val="404040"/>
                </a:solidFill>
                <a:ea typeface="Calibri" panose="020F0502020204030204" pitchFamily="34" charset="0"/>
                <a:sym typeface="Arial" panose="020B0604020202020204" pitchFamily="34" charset="0"/>
              </a:endParaRPr>
            </a:p>
          </p:txBody>
        </p:sp>
      </p:grpSp>
    </p:spTree>
  </p:cSld>
  <p:clrMapOvr>
    <a:masterClrMapping/>
  </p:clrMapOvr>
  <p:transition spd="slow">
    <p:wipe/>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3042</Words>
  <Application>WPS Presentation</Application>
  <PresentationFormat>宽屏</PresentationFormat>
  <Paragraphs>84</Paragraphs>
  <Slides>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Arial</vt:lpstr>
      <vt:lpstr>SimSun</vt:lpstr>
      <vt:lpstr>Wingdings</vt:lpstr>
      <vt:lpstr>Calibri</vt:lpstr>
      <vt:lpstr>Microsoft YaHei</vt:lpstr>
      <vt:lpstr>Arial Unicode MS</vt:lpstr>
      <vt:lpstr>Calibri Light</vt:lpstr>
      <vt:lpstr>Impact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ZhuLong</dc:creator>
  <cp:lastModifiedBy>sriba</cp:lastModifiedBy>
  <cp:revision>19</cp:revision>
  <dcterms:created xsi:type="dcterms:W3CDTF">2016-01-13T03:02:00Z</dcterms:created>
  <dcterms:modified xsi:type="dcterms:W3CDTF">2021-04-08T15:06:36Z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1033-11.2.0.10078</vt:lpwstr>
  </property>
</Properties>
</file>